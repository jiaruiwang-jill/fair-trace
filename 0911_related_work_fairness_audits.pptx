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papers: two LLM-recommender fairness benchmarks cited in main_yd.tex (FaiRLLM, CFaiRLLM), and three 2026 agent-fairness papers found on Google Scholar. Focus: how each one runs its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1–2 are recommender-fairness benchmarks (output level). Rows 3–5 are 2026 agent-fairness papers (trajectory or action level).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arXiv: https://arxiv.org/abs/2305.07609. Cited in main_yd.tex as zhang2023fairrec (line ~303).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arXiv: https://arxiv.org/abs/2403.05668. Cited in main_yd.tex as deldjoo2025cfairllm. Model names and per-attribute numbers omitted here; check the paper before quoting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arXiv: https://arxiv.org/abs/2609.02092 (posted 2026-09-02). Not yet cited in main_yd.tex.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arXiv: https://arxiv.org/abs/2606.16723. Cited in main_yd.tex as morla2026agentfairbench.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arXiv: https://arxiv.org/abs/2609.03221. Same group as AgentFairBench. SCAFF qwen figure: two live runs with identical seeds agreed on 397 of 424 shared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Judgments are from each paper's abstract and methods as read on 2026-09-11. 'Localizes by stage' for the instability-floor paper = per-action floors, one per trajectory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Toy-run numbers from FAIR_TRACE_SCAFF_TwoDataset_Toy_Colab.executed.ipynb: repair removability 0.576/0.588 for the true planted stage vs. 0.170/0.187 for other stages.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011680"/>
            <a:ext cx="73152" cy="2103120"/>
          </a:xfrm>
          <a:prstGeom prst="rect">
            <a:avLst/>
          </a:prstGeom>
          <a:solidFill>
            <a:srgbClr val="1E7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9202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7568"/>
                </a:solidFill>
                <a:latin typeface="Arial"/>
              </a:rPr>
              <a:t>RELATED WORK · FAIR-TRACE / SCAFF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8211F"/>
                </a:solidFill>
                <a:latin typeface="Arial"/>
              </a:rPr>
              <a:t>How five papers evaluate fairness in LLM recommenders and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5B6964"/>
                </a:solidFill>
                <a:latin typeface="Arial"/>
              </a:rPr>
              <a:t>FaiRLLM · CFaiRLLM · SCOPED-Hiring · AgentFairBench · Clinical instability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964"/>
                </a:solidFill>
                <a:latin typeface="Arial"/>
              </a:rPr>
              <a:t>2026-09-11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Five papers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9167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2148840"/>
                <a:gridCol w="2514600"/>
                <a:gridCol w="1691640"/>
                <a:gridCol w="240487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marL="91440" marR="91440" marT="54864" marB="54864" anchor="ctr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Setting</a:t>
                      </a:r>
                    </a:p>
                  </a:txBody>
                  <a:tcPr marL="91440" marR="91440" marT="54864" marB="54864" anchor="ctr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What is swapped</a:t>
                      </a:r>
                    </a:p>
                  </a:txBody>
                  <a:tcPr marL="91440" marR="91440" marT="54864" marB="54864" anchor="ctr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Unit measured</a:t>
                      </a:r>
                    </a:p>
                  </a:txBody>
                  <a:tcPr marL="91440" marR="91440" marT="54864" marB="54864" anchor="ctr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Headline</a:t>
                      </a:r>
                    </a:p>
                  </a:txBody>
                  <a:tcPr marL="91440" marR="91440" marT="54864" marB="54864" anchor="ctr">
                    <a:solidFill>
                      <a:srgbClr val="1E7568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8211F"/>
                          </a:solidFill>
                          <a:latin typeface="Arial"/>
                        </a:rPr>
                        <a:t>FaiRLLM</a:t>
                      </a:r>
                    </a:p>
                    <a:p>
                      <a:r>
                        <a:rPr sz="1000">
                          <a:solidFill>
                            <a:srgbClr val="5B6964"/>
                          </a:solidFill>
                          <a:latin typeface="Arial"/>
                        </a:rPr>
                        <a:t>Zhang et al., RecSys 2023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ChatGPT recommends music and movies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Sensitive attribute stated in the prompt vs. a neutral prompt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Top-20 list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Lists shift by attribute; race (movies) and religion (music) worst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8211F"/>
                          </a:solidFill>
                          <a:latin typeface="Arial"/>
                        </a:rPr>
                        <a:t>CFaiRLLM</a:t>
                      </a:r>
                    </a:p>
                    <a:p>
                      <a:r>
                        <a:rPr sz="1000">
                          <a:solidFill>
                            <a:srgbClr val="5B6964"/>
                          </a:solidFill>
                          <a:latin typeface="Arial"/>
                        </a:rPr>
                        <a:t>Deldjoo &amp; Di Noia, ACM TIST 2025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LLM recommends from real user histories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Single and intersectional attributes added to a user profile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Top-K list vs. true preferences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Measured unfairness depends on the reference and the profile sampling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8211F"/>
                          </a:solidFill>
                          <a:latin typeface="Arial"/>
                        </a:rPr>
                        <a:t>SCOPED-Hiring</a:t>
                      </a:r>
                    </a:p>
                    <a:p>
                      <a:r>
                        <a:rPr sz="1000">
                          <a:solidFill>
                            <a:srgbClr val="5B6964"/>
                          </a:solidFill>
                          <a:latin typeface="Arial"/>
                        </a:rPr>
                        <a:t>Zhao et al., arXiv 2026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Two-stage multi-agent hiring committee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One resume cue: name, age, country, school tier, career gap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Full decision trajectory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Balanced hire rates hide unequal process; targeted repair −72% burden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8211F"/>
                          </a:solidFill>
                          <a:latin typeface="Arial"/>
                        </a:rPr>
                        <a:t>AgentFairBench</a:t>
                      </a:r>
                    </a:p>
                    <a:p>
                      <a:r>
                        <a:rPr sz="1000">
                          <a:solidFill>
                            <a:srgbClr val="5B6964"/>
                          </a:solidFill>
                          <a:latin typeface="Arial"/>
                        </a:rPr>
                        <a:t>Morla et al., arXiv 2026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Agents in hiring, lending, triage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Name-coded race × gender in matched profile sets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Action, score, info request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No effect above an arity-matched noise floor for Claude Haiku 4.5</a:t>
                      </a:r>
                    </a:p>
                  </a:txBody>
                  <a:tcPr marL="91440" marR="91440" marT="54864" marB="54864" anchor="ctr">
                    <a:solidFill>
                      <a:srgbClr val="F6F8F7"/>
                    </a:solidFill>
                  </a:tcPr>
                </a:tc>
              </a:tr>
              <a:tr h="85039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8211F"/>
                          </a:solidFill>
                          <a:latin typeface="Arial"/>
                        </a:rPr>
                        <a:t>Instability floor</a:t>
                      </a:r>
                    </a:p>
                    <a:p>
                      <a:r>
                        <a:rPr sz="1000">
                          <a:solidFill>
                            <a:srgbClr val="5B6964"/>
                          </a:solidFill>
                          <a:latin typeface="Arial"/>
                        </a:rPr>
                        <a:t>Bellibatlu et al., arXiv 2026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Six-stage clinical agent trajectory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Race, sex, age, insurance, English proficiency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Each clinical action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8211F"/>
                          </a:solidFill>
                          <a:latin typeface="Arial"/>
                        </a:rPr>
                        <a:t>Identical reruns flip 8.7% of actions; no gap beats that floor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ZHANG ET AL. · RECSYS 2023 · ARXIV 2305.07609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FaiRLLM: Is ChatGPT fair for recommendation?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568"/>
                </a:solidFill>
                <a:latin typeface="Arial"/>
              </a:rPr>
              <a:t>Question  </a:t>
            </a:r>
            <a:r>
              <a:rPr sz="1500" b="0" i="0">
                <a:solidFill>
                  <a:srgbClr val="18211F"/>
                </a:solidFill>
                <a:latin typeface="Arial"/>
              </a:rPr>
              <a:t>Does ChatGPT change its recommendations when the user states a sensitive attribute?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7406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Music (500 popular singers) and movies (500 top directors); request K = 20 titles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8 attributes: age, country, gender, continent, occupation, race, religion, physical traits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Neutral prompt “I am a fan of X” vs. “I am a/an [attribute] fan of X”; greedy decoding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75887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50207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Similarity of each attribute's list to the neutral list: Jaccard, SERP*, PRAG*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Unfairness = spread across values: SNSR (max − min) and SNSV (std)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91456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65776"/>
            <a:ext cx="7406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Most attributes shift the lists; race is worst in movies (PRAG* SNSR 0.22)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“African” and “Asian” users drift furthest from the neutral list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Holds with typos near the attribute word and with Chinese-language prompts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36192"/>
            <a:ext cx="3319272" cy="4709160"/>
          </a:xfrm>
          <a:prstGeom prst="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7568"/>
                </a:solidFill>
                <a:latin typeface="Arial"/>
              </a:rPr>
              <a:t>HOW THEY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Reference = the neutral prompt's output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Any difference counts as unfairness, even if it's harmless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Output-level only; one model; no noise floor (greedy decoding)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1">
                <a:solidFill>
                  <a:srgbClr val="18211F"/>
                </a:solidFill>
                <a:latin typeface="Arial"/>
              </a:rPr>
              <a:t>For SCAFF: </a:t>
            </a:r>
            <a:r>
              <a:rPr sz="1300" b="0">
                <a:solidFill>
                  <a:srgbClr val="18211F"/>
                </a:solidFill>
                <a:latin typeface="Arial"/>
              </a:rPr>
              <a:t>this is D^nat on a single-stage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DELDJOO &amp; DI NOIA · ACM TIST 2025 · ARXIV 2403.05668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CFaiRLLM: consumer fairness against true preferences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568"/>
                </a:solidFill>
                <a:latin typeface="Arial"/>
              </a:rPr>
              <a:t>Question  </a:t>
            </a:r>
            <a:r>
              <a:rPr sz="1500" b="0" i="0">
                <a:solidFill>
                  <a:srgbClr val="18211F"/>
                </a:solidFill>
                <a:latin typeface="Arial"/>
              </a:rPr>
              <a:t>Is a change in recommendations unfair, or just personalization?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7406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Real histories: MovieLens-1M and LastFM-1K, about 150 users each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Profile = 10 items sampled three ways: random, top-rated, most recent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Attribute added to the prompt, alone or intersectional (e.g., age × gender)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75887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50207"/>
            <a:ext cx="74066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Item similarity to the neutral list (Jaccard, PRAG), as in FaiRLLM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True-preference alignment: recommendations scored against held-out user items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Same summaries across groups: SNSR and SNSV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02936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77255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Similarity-based measures report more unfairness than true-preference alignment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Intersectional groups show larger gaps; profile sampling changes the conclusion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36192"/>
            <a:ext cx="3319272" cy="4709160"/>
          </a:xfrm>
          <a:prstGeom prst="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7568"/>
                </a:solidFill>
                <a:latin typeface="Arial"/>
              </a:rPr>
              <a:t>HOW THEY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Fixes FaiRLLM's flaw: judge differences against the user's real preferences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Shows the unfairness number depends on choices the evaluator makes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Still output-level; no stage attribution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1">
                <a:solidFill>
                  <a:srgbClr val="18211F"/>
                </a:solidFill>
                <a:latin typeface="Arial"/>
              </a:rPr>
              <a:t>For SCAFF: </a:t>
            </a:r>
            <a:r>
              <a:rPr sz="1300" b="0">
                <a:solidFill>
                  <a:srgbClr val="18211F"/>
                </a:solidFill>
                <a:latin typeface="Arial"/>
              </a:rPr>
              <a:t>mirrors our split between sensitivity (D^A) and quality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ZHAO ET AL. · ARXIV 2609.02092 · SEPT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SCOPED-Hiring: process-aware fairness diagnosis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568"/>
                </a:solidFill>
                <a:latin typeface="Arial"/>
              </a:rPr>
              <a:t>Question  </a:t>
            </a:r>
            <a:r>
              <a:rPr sz="1500" b="0" i="0">
                <a:solidFill>
                  <a:srgbClr val="18211F"/>
                </a:solidFill>
                <a:latin typeface="Arial"/>
              </a:rPr>
              <a:t>Can balanced final outcomes hide unfair treatment inside a multi-agent process?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Committee: 3 screeners → 3 executives; debate, votes, private assessments logged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Resume variants from real CVs change one cue, merit fixed; 311K trajectories, 3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64408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METRICS · SIX LENSES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38728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Outcome · counterfactual (flip rate, score ATE) · process (investigation requests, bias language)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Pathway (Stage-1 pass gap vs. Stage-2 conversion gap) · debate dynamics · design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9976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54296"/>
            <a:ext cx="7406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Process-level signals 2.7–4.7× larger than outcome-level signals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Career gaps trigger suspicion; identity cues trigger more investigation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Targeted prompt repair: −72.3% total burden, hire rate moves 1.86 pp; generic reminder doesn't help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36192"/>
            <a:ext cx="3319272" cy="4709160"/>
          </a:xfrm>
          <a:prstGeom prst="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7568"/>
                </a:solidFill>
                <a:latin typeface="Arial"/>
              </a:rPr>
              <a:t>HOW THEY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Shows where a gap appears along the pipeline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Never swaps upstream state, so it can't tell caused vs. inherited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No planted ground truth; validated by construct checks and repair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1">
                <a:solidFill>
                  <a:srgbClr val="18211F"/>
                </a:solidFill>
                <a:latin typeface="Arial"/>
              </a:rPr>
              <a:t>For SCAFF: </a:t>
            </a:r>
            <a:r>
              <a:rPr sz="1300" b="0">
                <a:solidFill>
                  <a:srgbClr val="18211F"/>
                </a:solidFill>
                <a:latin typeface="Arial"/>
              </a:rPr>
              <a:t>closest neighbor; our crossover and planted stages are the difference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MORLA ET AL. · ARXIV 2606.16723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AgentFairBench: do LLM agents discriminate when they act?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568"/>
                </a:solidFill>
                <a:latin typeface="Arial"/>
              </a:rPr>
              <a:t>Question  </a:t>
            </a:r>
            <a:r>
              <a:rPr sz="1500" b="0" i="0">
                <a:solidFill>
                  <a:srgbClr val="18211F"/>
                </a:solidFill>
                <a:latin typeface="Arial"/>
              </a:rPr>
              <a:t>Do agents treat matched profiles differently in actions, not just answers?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Hiring, lending, medical triage; synthetic profiles in matched sets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Only a name-coded race × gender signal varies; 4 scaffolds (direct, CoT, panel, info request)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64408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38728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Flip rate, score spread, action-rate gap, info-request gap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Bootstrap CIs, permutation tests, false-discovery-rate control; test–retest reruns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9976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54296"/>
            <a:ext cx="7406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A six-group range vs. a two-run noise gap overstates disparity ≈2.25× by arity alone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Against an arity-matched floor: 0/120 pairwise, 0/9 omnibus contrasts for Claude Haiku 4.5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A planted-bias test confirms detection (construction barely described)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36192"/>
            <a:ext cx="3319272" cy="4709160"/>
          </a:xfrm>
          <a:prstGeom prst="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7568"/>
                </a:solidFill>
                <a:latin typeface="Arial"/>
              </a:rPr>
              <a:t>HOW THEY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Noise floor built from reruns of identical inputs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Compare like with like: same number of groups in signal and null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Planted bias checks power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1">
                <a:solidFill>
                  <a:srgbClr val="18211F"/>
                </a:solidFill>
                <a:latin typeface="Arial"/>
              </a:rPr>
              <a:t>For SCAFF: </a:t>
            </a:r>
            <a:r>
              <a:rPr sz="1300" b="0">
                <a:solidFill>
                  <a:srgbClr val="18211F"/>
                </a:solidFill>
                <a:latin typeface="Arial"/>
              </a:rPr>
              <a:t>already cited by Yashar; borrow the arity-matched null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BELLIBATLU ET AL. · ARXIV 2609.03221 · SEPT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Counterfactual audits need a per-action instability floor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7406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7568"/>
                </a:solidFill>
                <a:latin typeface="Arial"/>
              </a:rPr>
              <a:t>Question  </a:t>
            </a:r>
            <a:r>
              <a:rPr sz="1500" b="0" i="0">
                <a:solidFill>
                  <a:srgbClr val="18211F"/>
                </a:solidFill>
                <a:latin typeface="Arial"/>
              </a:rPr>
              <a:t>What does a counterfactual flip rate mean if the agent flips on identical input?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FairMedAgent: synthetic clinical vignettes, six-stage trajectory (five model decisions)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Descriptors: race, sex, age, insurance, English proficiency, and intersections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64408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FLOOR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38728"/>
            <a:ext cx="7406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Rerun an identical condition 10× over 16 vignettes; count action changes per cell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Repeat on a second model; test majority vote over 5 draws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79976"/>
            <a:ext cx="7406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5B6964"/>
                </a:solidFill>
                <a:latin typeface="Arial"/>
              </a:rPr>
              <a:t>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54296"/>
            <a:ext cx="7406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8.7% of actions change with nothing varied; 0.022 (ICU escalation) to 0.179 (substance caution)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Second model: 6.7% floor, same ranking of actions (Spearman 0.94)</a:t>
            </a:r>
          </a:p>
          <a:p>
            <a:pPr marL="201168" indent="-201168">
              <a:spcAft>
                <a:spcPts val="500"/>
              </a:spcAft>
            </a:pPr>
            <a:r>
              <a:rPr sz="1350">
                <a:solidFill>
                  <a:srgbClr val="1E7568"/>
                </a:solidFill>
                <a:latin typeface="Arial"/>
              </a:rPr>
              <a:t>•  </a:t>
            </a:r>
            <a:r>
              <a:rPr sz="1350" b="0">
                <a:solidFill>
                  <a:srgbClr val="18211F"/>
                </a:solidFill>
                <a:latin typeface="Arial"/>
              </a:rPr>
              <a:t>Majority vote removes 39% of the floor, then flattens; no disparity beats the floor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536192"/>
            <a:ext cx="3319272" cy="4709160"/>
          </a:xfrm>
          <a:prstGeom prst="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E7568"/>
                </a:solidFill>
                <a:latin typeface="Arial"/>
              </a:rPr>
              <a:t>HOW THEY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103120"/>
            <a:ext cx="288036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Noise is per action, not one global number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Report the floor next to every flip rate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0">
                <a:solidFill>
                  <a:srgbClr val="18211F"/>
                </a:solidFill>
                <a:latin typeface="Arial"/>
              </a:rPr>
              <a:t>Replication helps but doesn't remove the floor</a:t>
            </a:r>
          </a:p>
          <a:p>
            <a:pPr marL="201168" indent="-201168">
              <a:spcAft>
                <a:spcPts val="800"/>
              </a:spcAft>
            </a:pPr>
            <a:r>
              <a:rPr sz="1300">
                <a:solidFill>
                  <a:srgbClr val="1E7568"/>
                </a:solidFill>
                <a:latin typeface="Arial"/>
              </a:rPr>
              <a:t>•  </a:t>
            </a:r>
            <a:r>
              <a:rPr sz="1300" b="1">
                <a:solidFill>
                  <a:srgbClr val="18211F"/>
                </a:solidFill>
                <a:latin typeface="Arial"/>
              </a:rPr>
              <a:t>For SCAFF: </a:t>
            </a:r>
            <a:r>
              <a:rPr sz="1300" b="0">
                <a:solidFill>
                  <a:srgbClr val="18211F"/>
                </a:solidFill>
                <a:latin typeface="Arial"/>
              </a:rPr>
              <a:t>our qwen reruns disagree on 6.4% of stage decisions (27 of 424)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What each evaluation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Swaps the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attribute</a:t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Checks against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true preferences</a:t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Localizes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by stage</a:t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Separates direct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vs. inherited</a:t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Planted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ground truth</a:t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Noise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floor</a:t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Tests a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repair</a:t>
                      </a:r>
                    </a:p>
                  </a:txBody>
                  <a:tcPr anchor="ctr" marL="73152" marR="73152">
                    <a:solidFill>
                      <a:srgbClr val="1E756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8211F"/>
                          </a:solidFill>
                          <a:latin typeface="Arial"/>
                        </a:rPr>
                        <a:t>FaiRLLM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8211F"/>
                          </a:solidFill>
                          <a:latin typeface="Arial"/>
                        </a:rPr>
                        <a:t>CFaiRLLM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8211F"/>
                          </a:solidFill>
                          <a:latin typeface="Arial"/>
                        </a:rPr>
                        <a:t>SCOPED-Hiring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A95F24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8211F"/>
                          </a:solidFill>
                          <a:latin typeface="Arial"/>
                        </a:rPr>
                        <a:t>AgentFairBench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6F8F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8211F"/>
                          </a:solidFill>
                          <a:latin typeface="Arial"/>
                        </a:rPr>
                        <a:t>Instability floor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A95F24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A95F24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6964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8211F"/>
                          </a:solidFill>
                          <a:latin typeface="Arial"/>
                        </a:rPr>
                        <a:t>SCAFF (ours)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>
                          <a:solidFill>
                            <a:srgbClr val="A95F24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E7568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anchor="ctr" marL="73152" marR="73152">
                    <a:solidFill>
                      <a:srgbClr val="E3F0E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964"/>
                </a:solidFill>
                <a:latin typeface="Arial"/>
              </a:rPr>
              <a:t>Partial: SCOPED-Hiring runs significance tests but no rerun floor. The instability-floor paper's clinician-adjudicated reference is still in progress. SCAFF computes within-condition noise but doesn't yet use it as the D^A threshold.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8211F"/>
                </a:solidFill>
                <a:latin typeface="Arial"/>
              </a:rPr>
              <a:t>What to borrow for SCAFF's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11091672" cy="10972"/>
          </a:xfrm>
          <a:prstGeom prst="rect">
            <a:avLst/>
          </a:prstGeom>
          <a:solidFill>
            <a:srgbClr val="C6D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964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964"/>
                </a:solidFill>
                <a:latin typeface="Arial"/>
              </a:rPr>
              <a:t>Related work for FAIR-TRACE / SCAFF · 2026-09-11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93592" cy="2240280"/>
          </a:xfrm>
          <a:prstGeom prst="rect">
            <a:avLst/>
          </a:prstGeom>
          <a:solidFill>
            <a:srgbClr val="F6F8F7"/>
          </a:solidFill>
          <a:ln w="9525">
            <a:solidFill>
              <a:srgbClr val="C6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93592" cy="54864"/>
          </a:xfrm>
          <a:prstGeom prst="rect">
            <a:avLst/>
          </a:prstGeom>
          <a:solidFill>
            <a:srgbClr val="1E7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874519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211F"/>
                </a:solidFill>
                <a:latin typeface="Arial"/>
              </a:rPr>
              <a:t>Threshold D^A against each stage's own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1363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964"/>
                </a:solidFill>
                <a:latin typeface="Arial"/>
              </a:rPr>
              <a:t>Replace the fixed 0.10 with a per-stage rerun floor, arity-matched. Our qwen noise (6.4%) sits right beside their 6.7–8.7%.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536" y="1600200"/>
            <a:ext cx="3593592" cy="2240280"/>
          </a:xfrm>
          <a:prstGeom prst="rect">
            <a:avLst/>
          </a:prstGeom>
          <a:solidFill>
            <a:srgbClr val="F6F8F7"/>
          </a:solidFill>
          <a:ln w="9525">
            <a:solidFill>
              <a:srgbClr val="C6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600200"/>
            <a:ext cx="3593592" cy="54864"/>
          </a:xfrm>
          <a:prstGeom prst="rect">
            <a:avLst/>
          </a:prstGeom>
          <a:solidFill>
            <a:srgbClr val="1E7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874519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211F"/>
                </a:solidFill>
                <a:latin typeface="Arial"/>
              </a:rPr>
              <a:t>Keep sensitivity and consequence separate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560320"/>
            <a:ext cx="31363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964"/>
                </a:solidFill>
                <a:latin typeface="Arial"/>
              </a:rPr>
              <a:t>CFaiRLLM shows a raw difference overstates unfairness. Report quality against task truth next to D^A.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28431" y="1600200"/>
            <a:ext cx="3593592" cy="2240280"/>
          </a:xfrm>
          <a:prstGeom prst="rect">
            <a:avLst/>
          </a:prstGeom>
          <a:solidFill>
            <a:srgbClr val="F6F8F7"/>
          </a:solidFill>
          <a:ln w="9525">
            <a:solidFill>
              <a:srgbClr val="C6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600200"/>
            <a:ext cx="3593592" cy="54864"/>
          </a:xfrm>
          <a:prstGeom prst="rect">
            <a:avLst/>
          </a:prstGeom>
          <a:solidFill>
            <a:srgbClr val="1E7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874519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211F"/>
                </a:solidFill>
                <a:latin typeface="Arial"/>
              </a:rPr>
              <a:t>Make planted ground truth a headline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1" y="2560320"/>
            <a:ext cx="31363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964"/>
                </a:solidFill>
                <a:latin typeface="Arial"/>
              </a:rPr>
              <a:t>Only AgentFairBench plants bias, and barely describes it. Report localization vs. chance (1/6), per-stage recall, and the confusion matrix.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3593592" cy="2240280"/>
          </a:xfrm>
          <a:prstGeom prst="rect">
            <a:avLst/>
          </a:prstGeom>
          <a:solidFill>
            <a:srgbClr val="F6F8F7"/>
          </a:solidFill>
          <a:ln w="9525">
            <a:solidFill>
              <a:srgbClr val="C6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23360"/>
            <a:ext cx="3593592" cy="54864"/>
          </a:xfrm>
          <a:prstGeom prst="rect">
            <a:avLst/>
          </a:prstGeom>
          <a:solidFill>
            <a:srgbClr val="1E7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97680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211F"/>
                </a:solidFill>
                <a:latin typeface="Arial"/>
              </a:rPr>
              <a:t>Position against SCOPED-Hiring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31363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964"/>
                </a:solidFill>
                <a:latin typeface="Arial"/>
              </a:rPr>
              <a:t>They show where a gap appears. SCAFF's crossover shows whether a stage causes it (D^A) or inherits it (D^Z).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4023360"/>
            <a:ext cx="3593592" cy="2240280"/>
          </a:xfrm>
          <a:prstGeom prst="rect">
            <a:avLst/>
          </a:prstGeom>
          <a:solidFill>
            <a:srgbClr val="F6F8F7"/>
          </a:solidFill>
          <a:ln w="9525">
            <a:solidFill>
              <a:srgbClr val="C6D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88536" y="4023360"/>
            <a:ext cx="3593592" cy="54864"/>
          </a:xfrm>
          <a:prstGeom prst="rect">
            <a:avLst/>
          </a:prstGeom>
          <a:solidFill>
            <a:srgbClr val="1E7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4297680"/>
            <a:ext cx="31363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8211F"/>
                </a:solidFill>
                <a:latin typeface="Arial"/>
              </a:rPr>
              <a:t>Use repair as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4983480"/>
            <a:ext cx="313639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B6964"/>
                </a:solidFill>
                <a:latin typeface="Arial"/>
              </a:rPr>
              <a:t>Their targeted vs. generic repair matches our true-stage vs. other-stage removability (toy run: 0.58 vs. 0.18).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4297680"/>
            <a:ext cx="3136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E7568"/>
                </a:solidFill>
                <a:latin typeface="Arial"/>
              </a:rPr>
              <a:t>Sources</a:t>
            </a:r>
          </a:p>
          <a:p>
            <a:pPr algn="l"/>
            <a:r>
              <a:rPr sz="1100" b="0" i="0">
                <a:solidFill>
                  <a:srgbClr val="5B6964"/>
                </a:solidFill>
                <a:latin typeface="Arial"/>
              </a:rPr>
              <a:t>arXiv 2305.07609 · 2403.05668</a:t>
            </a:r>
          </a:p>
          <a:p>
            <a:pPr algn="l"/>
            <a:r>
              <a:rPr sz="1100" b="0" i="0">
                <a:solidFill>
                  <a:srgbClr val="5B6964"/>
                </a:solidFill>
                <a:latin typeface="Arial"/>
              </a:rPr>
              <a:t>arXiv 2609.02092 · 2606.16723</a:t>
            </a:r>
          </a:p>
          <a:p>
            <a:pPr algn="l"/>
            <a:r>
              <a:rPr sz="1100" b="0" i="0">
                <a:solidFill>
                  <a:srgbClr val="5B6964"/>
                </a:solidFill>
                <a:latin typeface="Arial"/>
              </a:rPr>
              <a:t>arXiv 2609.03221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